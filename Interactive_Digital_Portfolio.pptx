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Libre Franklin"/>
      <p:regular r:id="rId17"/>
      <p:bold r:id="rId18"/>
      <p:italic r:id="rId19"/>
      <p:boldItalic r:id="rId20"/>
    </p:embeddedFont>
    <p:embeddedFont>
      <p:font typeface="Franklin Gothic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FranklinGothic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ibreFranklin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ibreFranklin-italic.fntdata"/><Relationship Id="rId6" Type="http://schemas.openxmlformats.org/officeDocument/2006/relationships/slide" Target="slides/slide1.xml"/><Relationship Id="rId18" Type="http://schemas.openxmlformats.org/officeDocument/2006/relationships/font" Target="fonts/LibreFranklin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Franklin Gothic"/>
              <a:buNone/>
              <a:defRPr sz="36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196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012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012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581192" y="1302026"/>
            <a:ext cx="11029615" cy="4673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575894" y="729658"/>
            <a:ext cx="11029616" cy="5922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581193" y="2393950"/>
            <a:ext cx="11029615" cy="2147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Franklin Gothic"/>
              <a:buNone/>
              <a:defRPr b="0" sz="3600" cap="none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581193" y="729658"/>
            <a:ext cx="11029616" cy="4928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581193" y="1391479"/>
            <a:ext cx="5194767" cy="4469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6416039" y="1391479"/>
            <a:ext cx="5194769" cy="4469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581191" y="2250891"/>
            <a:ext cx="5194769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40"/>
              <a:buNone/>
              <a:defRPr b="0" sz="20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581194" y="2926052"/>
            <a:ext cx="5194766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3" type="body"/>
          </p:nvPr>
        </p:nvSpPr>
        <p:spPr>
          <a:xfrm>
            <a:off x="6416039" y="2250892"/>
            <a:ext cx="5194770" cy="553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Noto Sans Symbols"/>
              <a:buNone/>
              <a:defRPr b="0" sz="20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3" name="Google Shape;53;p7"/>
          <p:cNvSpPr txBox="1"/>
          <p:nvPr>
            <p:ph idx="4" type="body"/>
          </p:nvPr>
        </p:nvSpPr>
        <p:spPr>
          <a:xfrm>
            <a:off x="6416037" y="2926052"/>
            <a:ext cx="5194771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9"/>
          <p:cNvSpPr txBox="1"/>
          <p:nvPr>
            <p:ph type="title"/>
          </p:nvPr>
        </p:nvSpPr>
        <p:spPr>
          <a:xfrm>
            <a:off x="767857" y="933450"/>
            <a:ext cx="3031852" cy="17224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Franklin Gothic"/>
              <a:buNone/>
              <a:defRPr b="0" sz="24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4900928" y="1179829"/>
            <a:ext cx="6650991" cy="465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767857" y="2836654"/>
            <a:ext cx="3031852" cy="3001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6" name="Google Shape;66;p9"/>
          <p:cNvSpPr txBox="1"/>
          <p:nvPr>
            <p:ph idx="10" type="dt"/>
          </p:nvPr>
        </p:nvSpPr>
        <p:spPr>
          <a:xfrm>
            <a:off x="7605951" y="6456916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1" type="ftr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10558300" y="6456916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Franklin Gothic"/>
              <a:buNone/>
              <a:defRPr b="0" sz="24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/>
          <p:nvPr>
            <p:ph idx="2" type="pic"/>
          </p:nvPr>
        </p:nvSpPr>
        <p:spPr>
          <a:xfrm>
            <a:off x="447817" y="641350"/>
            <a:ext cx="11290859" cy="365124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581192" y="5260127"/>
            <a:ext cx="11029617" cy="9981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3" name="Google Shape;73;p10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 rot="5400000">
            <a:off x="3809574" y="-1813184"/>
            <a:ext cx="4572852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7914" lvl="0" marL="457200" algn="l">
              <a:lnSpc>
                <a:spcPct val="110000"/>
              </a:lnSpc>
              <a:spcBef>
                <a:spcPts val="340"/>
              </a:spcBef>
              <a:spcAft>
                <a:spcPts val="0"/>
              </a:spcAft>
              <a:buSzPts val="1564"/>
              <a:buChar char="◼"/>
              <a:defRPr/>
            </a:lvl1pPr>
            <a:lvl2pPr indent="-310387" lvl="1" marL="914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2pPr>
            <a:lvl3pPr indent="-304546" lvl="2" marL="1371600" algn="l">
              <a:spcBef>
                <a:spcPts val="600"/>
              </a:spcBef>
              <a:spcAft>
                <a:spcPts val="0"/>
              </a:spcAft>
              <a:buSzPts val="1196"/>
              <a:buChar char="◼"/>
              <a:defRPr/>
            </a:lvl3pPr>
            <a:lvl4pPr indent="-292861" lvl="3" marL="1828800" algn="l">
              <a:spcBef>
                <a:spcPts val="600"/>
              </a:spcBef>
              <a:spcAft>
                <a:spcPts val="0"/>
              </a:spcAft>
              <a:buSzPts val="1012"/>
              <a:buChar char="◼"/>
              <a:defRPr/>
            </a:lvl4pPr>
            <a:lvl5pPr indent="-292861" lvl="4" marL="2286000" algn="l">
              <a:spcBef>
                <a:spcPts val="600"/>
              </a:spcBef>
              <a:spcAft>
                <a:spcPts val="0"/>
              </a:spcAft>
              <a:buSzPts val="1012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/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2"/>
          <p:cNvSpPr txBox="1"/>
          <p:nvPr>
            <p:ph type="title"/>
          </p:nvPr>
        </p:nvSpPr>
        <p:spPr>
          <a:xfrm rot="5400000">
            <a:off x="7362637" y="1705163"/>
            <a:ext cx="480732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Franklin Gothic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 rot="5400000">
            <a:off x="1952072" y="-313549"/>
            <a:ext cx="4807326" cy="716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6" name="Google Shape;86;p12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2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2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2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1" name="Google Shape;91;p12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defRPr b="0" i="0" sz="2800" u="none" cap="none" strike="noStrik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7914" lvl="0" marL="457200" marR="0" rtl="0" algn="l">
              <a:lnSpc>
                <a:spcPct val="11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◼"/>
              <a:defRPr b="0" i="0" sz="1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0387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04546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96"/>
              <a:buFont typeface="Noto Sans Symbols"/>
              <a:buChar char="◼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292861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12"/>
              <a:buFont typeface="Noto Sans Symbols"/>
              <a:buChar char="◼"/>
              <a:defRPr b="0" i="0" sz="11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292861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12"/>
              <a:buFont typeface="Noto Sans Symbols"/>
              <a:buChar char="◼"/>
              <a:defRPr b="0" i="0" sz="11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&#10;&#10;Description automatically generated" id="17" name="Google Shape;17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85003" y="6437910"/>
            <a:ext cx="1125805" cy="36512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NanthiniMoha/TNSDC-FWD-DIGITAL_PORTFOLIO" TargetMode="External"/><Relationship Id="rId4" Type="http://schemas.openxmlformats.org/officeDocument/2006/relationships/hyperlink" Target="https://getbootstrap.com/docs/5.3/getting-started/introduction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/>
          <p:nvPr>
            <p:ph type="ctrTitle"/>
          </p:nvPr>
        </p:nvSpPr>
        <p:spPr>
          <a:xfrm>
            <a:off x="1359108" y="1821635"/>
            <a:ext cx="9144000" cy="977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482AB"/>
                </a:solidFill>
                <a:latin typeface="Arial"/>
                <a:ea typeface="Arial"/>
                <a:cs typeface="Arial"/>
                <a:sym typeface="Arial"/>
              </a:rPr>
              <a:t>INTERACTIVE DIGITAL PORTFOLIO</a:t>
            </a:r>
            <a:endParaRPr b="1">
              <a:solidFill>
                <a:srgbClr val="1482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482AB"/>
                </a:solidFill>
                <a:latin typeface="Arial"/>
                <a:ea typeface="Arial"/>
                <a:cs typeface="Arial"/>
                <a:sym typeface="Arial"/>
              </a:rPr>
              <a:t>CAPSTONE PROJECT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2778300" y="4319075"/>
            <a:ext cx="8992200" cy="1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Presented By:</a:t>
            </a:r>
            <a:endParaRPr sz="2400">
              <a:solidFill>
                <a:schemeClr val="accen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1"/>
                </a:solidFill>
              </a:rPr>
              <a:t>Soham Yashwant Surve</a:t>
            </a:r>
            <a:endParaRPr b="1" sz="2200">
              <a:solidFill>
                <a:schemeClr val="accen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482AB"/>
                </a:solidFill>
              </a:rPr>
              <a:t>College Name: </a:t>
            </a:r>
            <a:r>
              <a:rPr b="1" lang="en-US" sz="1900">
                <a:solidFill>
                  <a:schemeClr val="accent1"/>
                </a:solidFill>
              </a:rPr>
              <a:t>Loknete Shamrao Peje Government College of Engineering, Ratnagiri</a:t>
            </a:r>
            <a:endParaRPr b="1" sz="1900">
              <a:solidFill>
                <a:schemeClr val="accen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482AB"/>
                </a:solidFill>
              </a:rPr>
              <a:t>Department: </a:t>
            </a:r>
            <a:r>
              <a:rPr b="1" lang="en-US" sz="1900">
                <a:solidFill>
                  <a:schemeClr val="accent1"/>
                </a:solidFill>
              </a:rPr>
              <a:t>Artificial Intelligence and Data Science</a:t>
            </a:r>
            <a:endParaRPr b="1" sz="19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title"/>
          </p:nvPr>
        </p:nvSpPr>
        <p:spPr>
          <a:xfrm>
            <a:off x="849573" y="5584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b="1" lang="en-US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/>
          </a:p>
        </p:txBody>
      </p:sp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838200" y="1618938"/>
            <a:ext cx="11019020" cy="5239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40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  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System Development Approach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 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Algorithm &amp; Deployment (Step by Step  Procedure) 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Result</a:t>
            </a:r>
            <a:endParaRPr/>
          </a:p>
          <a:p>
            <a:pPr indent="-305435" lvl="0" marL="30543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Conclusion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Future Scope</a:t>
            </a:r>
            <a:endParaRPr/>
          </a:p>
          <a:p>
            <a:pPr indent="-305435" lvl="0" marL="305435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40"/>
              <a:buChar char="◼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References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06121" lvl="0" marL="305435" rtl="0" algn="l">
              <a:lnSpc>
                <a:spcPct val="110000"/>
              </a:lnSpc>
              <a:spcBef>
                <a:spcPts val="940"/>
              </a:spcBef>
              <a:spcAft>
                <a:spcPts val="0"/>
              </a:spcAft>
              <a:buSzPts val="1564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US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4400"/>
          </a:p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581242" y="2136001"/>
            <a:ext cx="110295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15144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developers find it difficult to showcase their skills, achievements, and projects effectively.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144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Traditional resumes are static and fail to reflect creativity or technical proficiency.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144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a need for an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interactive, visually appealing, and easily customizable digital portfolio.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144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platform should allow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smooth navigation through sections like About, Skills, Projects, and Contact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engaging animations and transitions.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581192" y="662572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US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SYSTEM  APPROACH</a:t>
            </a:r>
            <a:endParaRPr sz="44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581200" y="1593400"/>
            <a:ext cx="10881000" cy="43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 Technologies: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HTML5: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Defines the structure and layout of the webpage.</a:t>
            </a:r>
            <a:b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CSS3: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Provides styling, color themes, and ensures responsive layouts for different screen sizes.</a:t>
            </a:r>
            <a:b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JavaScript: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Adds dynamic interactivity such as animations, transitions, and interactive elements for a better user experience.</a:t>
            </a:r>
            <a:b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Approach: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Clean and User-Friendly Interface: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Focused on simplicity, readability, and smooth navigation.</a:t>
            </a:r>
            <a:b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Mobile-Responsive Design: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Optimized for accessibility and usability across all devices.</a:t>
            </a:r>
            <a:b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Modular File Structure: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Clear separation of HTML, CSS, and JavaScript files for maintainability and scalability.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ibre Franklin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US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ALGORITHM &amp; DEPLOYMENT</a:t>
            </a:r>
            <a:endParaRPr/>
          </a:p>
        </p:txBody>
      </p:sp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581192" y="1302026"/>
            <a:ext cx="11029500" cy="53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Portfolio Creation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sections and content (About, Skills, Projects, Contact, Resume link).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images, icons, and personal branding elements.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brief descriptions for each project and skill.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 Design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 using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flexbox and grid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responsive design.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Cards and section-based layout for projects and skills.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Smooth animations and transitions for interactive visual appeal.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Interactive Features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Navigation bar with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smooth scrolling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sections.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Hover effects on project cards and skill icons. And Contact form for direct messages.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Cross-browser compatibility (Chrome, Firefox, Safari). And Mobile responsiveness for tablets and smartphones.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Accessibility checks for visual and interactive elements.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Hosted on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Vercel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free and easy access.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 loading and seamless user experience.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581200" y="702149"/>
            <a:ext cx="110295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3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sz="3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8" title="Screenshot 2025-10-06 at 10.40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23700"/>
            <a:ext cx="5696876" cy="29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 title="Screenshot 2025-10-06 at 10.41.0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3475" y="1423700"/>
            <a:ext cx="5941801" cy="29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 title="Screenshot 2025-10-06 at 10.41.19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4557600"/>
            <a:ext cx="3808748" cy="21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 title="Screenshot 2025-10-06 at 10.41.32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2967" y="4557600"/>
            <a:ext cx="3747108" cy="21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 title="Screenshot 2025-10-06 at 10.41.51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94715" y="4557600"/>
            <a:ext cx="3756708" cy="21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581200" y="702148"/>
            <a:ext cx="110295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b="1" lang="en-US" sz="3900">
                <a:solidFill>
                  <a:srgbClr val="1482AB"/>
                </a:solidFill>
                <a:latin typeface="Arial"/>
                <a:ea typeface="Arial"/>
                <a:cs typeface="Arial"/>
                <a:sym typeface="Arial"/>
              </a:rPr>
              <a:t>GITHUB AND </a:t>
            </a:r>
            <a:r>
              <a:rPr b="1" lang="en-US" sz="3900">
                <a:solidFill>
                  <a:srgbClr val="1482AB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r>
              <a:rPr b="1" lang="en-US" sz="3900">
                <a:solidFill>
                  <a:srgbClr val="1482AB"/>
                </a:solidFill>
                <a:latin typeface="Arial"/>
                <a:ea typeface="Arial"/>
                <a:cs typeface="Arial"/>
                <a:sym typeface="Arial"/>
              </a:rPr>
              <a:t> LINK</a:t>
            </a:r>
            <a:endParaRPr b="1" sz="3900">
              <a:solidFill>
                <a:srgbClr val="1482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581200" y="2138850"/>
            <a:ext cx="11029500" cy="25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1558" lvl="0" marL="305435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Char char="◼"/>
            </a:pPr>
            <a:r>
              <a:rPr b="1" lang="en-US" sz="2200"/>
              <a:t>Attach your Github Link : </a:t>
            </a:r>
            <a:r>
              <a:rPr b="1" lang="en-US" sz="2200">
                <a:solidFill>
                  <a:schemeClr val="accent1"/>
                </a:solidFill>
              </a:rPr>
              <a:t>https://github.com/Sohamsurve/Soham_Portfolio/</a:t>
            </a:r>
            <a:endParaRPr sz="2200">
              <a:solidFill>
                <a:schemeClr val="accent1"/>
              </a:solidFill>
            </a:endParaRPr>
          </a:p>
          <a:p>
            <a:pPr indent="-281558" lvl="0" marL="305435" rtl="0" algn="l">
              <a:lnSpc>
                <a:spcPct val="110000"/>
              </a:lnSpc>
              <a:spcBef>
                <a:spcPts val="1160"/>
              </a:spcBef>
              <a:spcAft>
                <a:spcPts val="0"/>
              </a:spcAft>
              <a:buSzPts val="2200"/>
              <a:buChar char="◼"/>
            </a:pPr>
            <a:r>
              <a:rPr b="1" lang="en-US" sz="2200"/>
              <a:t>Deployment link: </a:t>
            </a:r>
            <a:r>
              <a:rPr b="1" lang="en-US" sz="2200">
                <a:solidFill>
                  <a:schemeClr val="accent1"/>
                </a:solidFill>
              </a:rPr>
              <a:t>https://soham-portfolio-six.vercel.app/</a:t>
            </a:r>
            <a:endParaRPr b="1" sz="22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US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581242" y="2274601"/>
            <a:ext cx="110295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15144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Created an interactive and visually appealing digital portfolio to showcase skills and projects.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144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Implemented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responsive design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smooth animations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enhanced user experience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144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Integrated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modals, hover effects, and a contact form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interactivity.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144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Successfully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deployed on Vercel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easy access and seamless navigation.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/>
        </p:nvSpPr>
        <p:spPr>
          <a:xfrm>
            <a:off x="535675" y="844650"/>
            <a:ext cx="110295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b="1" lang="en-US" sz="41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endParaRPr sz="1100"/>
          </a:p>
        </p:txBody>
      </p:sp>
      <p:sp>
        <p:nvSpPr>
          <p:cNvPr id="150" name="Google Shape;150;p21"/>
          <p:cNvSpPr txBox="1"/>
          <p:nvPr>
            <p:ph idx="1" type="body"/>
          </p:nvPr>
        </p:nvSpPr>
        <p:spPr>
          <a:xfrm>
            <a:off x="591479" y="2143801"/>
            <a:ext cx="96474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34194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Content Management: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Allow adding/updating projects and skills via a backend or CMS.</a:t>
            </a:r>
            <a:b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194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Analytics: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Track visitor interactions and project views for insights.</a:t>
            </a:r>
            <a:b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194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 Branding Enhancements: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Integrate blog or testimonial sections to showcase thought leadership.</a:t>
            </a:r>
            <a:b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194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Advanced Interactivity: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 animations, dark/light mode toggle, and AI-powered recommendations for projects.</a:t>
            </a:r>
            <a:b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194" lvl="0" marL="30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Multi-language Support: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Make the portfolio accessible to a wider audience.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581192" y="702156"/>
            <a:ext cx="11029616" cy="530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US"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581250" y="2262150"/>
            <a:ext cx="11029500" cy="23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24485" lvl="0" marL="305435" rtl="0" algn="l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SzPts val="2508"/>
              <a:buChar char="◼"/>
            </a:pPr>
            <a:r>
              <a:rPr lang="en-US" sz="2700" u="sng">
                <a:solidFill>
                  <a:schemeClr val="hlink"/>
                </a:solidFill>
                <a:hlinkClick r:id="rId3"/>
              </a:rPr>
              <a:t>NanthiniMoha/TNSDC-FWD-DIGITAL_PORTFOLIO</a:t>
            </a:r>
            <a:endParaRPr sz="2700"/>
          </a:p>
          <a:p>
            <a:pPr indent="-324485" lvl="0" marL="305435" rtl="0" algn="l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SzPts val="2508"/>
              <a:buChar char="◼"/>
            </a:pPr>
            <a:r>
              <a:rPr lang="en-US" sz="2700" u="sng">
                <a:solidFill>
                  <a:schemeClr val="hlink"/>
                </a:solidFill>
                <a:hlinkClick r:id="rId4"/>
              </a:rPr>
              <a:t>Get started with Bootstrap · Bootstrap v5.3</a:t>
            </a:r>
            <a:endParaRPr sz="2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1463041" y="2766218"/>
            <a:ext cx="929874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b="1" lang="en-US" sz="35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3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